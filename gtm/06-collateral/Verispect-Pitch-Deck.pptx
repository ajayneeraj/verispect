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Calibri"/>
              </a:rPr>
              <a:t>Verispect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8C3F0"/>
                </a:solidFill>
                <a:latin typeface="Calibri"/>
              </a:rPr>
              <a:t>Active AI bias &amp; drift detection + EU AI Act compliance evidence — in one line of code.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794760"/>
            <a:ext cx="182880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B7280"/>
                </a:solidFill>
                <a:latin typeface="Calibri"/>
              </a:rPr>
              <a:t>Verify + Inspect. Every model. Every call. Every month.   ·   verispectai.com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827"/>
                </a:solidFill>
                <a:latin typeface="Calibri"/>
              </a:rPr>
              <a:t>The most dangerous AI bug is the one where nothing changed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46304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Companies put LLMs into decisions that change lives — hiring, credit, triage, legal review.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Providers silently update models behind a stable API name. Behaviour shifts overnight, no changelog.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Fine-tunes degrade. Prompts drift. A model that was fair last month quietly starts discriminating.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Logging tools can't catch it — the inputs and outputs still look normal.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Teams find out when a regulator, an enterprise buyer, or a journalist asks: "prove your AI behaves."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They have no evidence. Building it in-house is a multi-month ML + compliance project nobody has time for.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You can't detect drift by watching.</a:t>
            </a:r>
          </a:p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7C6EFF"/>
                </a:solidFill>
                <a:latin typeface="Calibri"/>
              </a:rPr>
              <a:t>You have to interrogate.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C8C3F0"/>
                </a:solidFill>
                <a:latin typeface="Calibri"/>
              </a:rPr>
              <a:t>Fire calibrated probes — identical candidate profiles differing by one protected characteristic — at the live model. Measure the gap vs a recorded baseline. Divergence becomes a number you can put in a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827"/>
                </a:solidFill>
                <a:latin typeface="Calibri"/>
              </a:rPr>
              <a:t>Verispect: Active AI Behavioural Assurance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46304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3520440" cy="3291840"/>
          </a:xfrm>
          <a:prstGeom prst="rect">
            <a:avLst/>
          </a:prstGeom>
          <a:solidFill>
            <a:srgbClr val="EDE9FE"/>
          </a:solidFill>
          <a:ln w="12700">
            <a:solidFill>
              <a:srgbClr val="7C6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7C6EFF"/>
                </a:solidFill>
                <a:latin typeface="Calibri"/>
              </a:rPr>
              <a:t>Active, not passive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827"/>
                </a:solidFill>
                <a:latin typeface="Calibri"/>
              </a:rPr>
              <a:t>Calibrated probes + replays of your own traffic test behaviour continuously — catching change the moment it happens.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453128" y="2011680"/>
            <a:ext cx="3520440" cy="3291840"/>
          </a:xfrm>
          <a:prstGeom prst="rect">
            <a:avLst/>
          </a:prstGeom>
          <a:solidFill>
            <a:srgbClr val="EDE9FE"/>
          </a:solidFill>
          <a:ln w="12700">
            <a:solidFill>
              <a:srgbClr val="7C6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7C6EFF"/>
                </a:solidFill>
                <a:latin typeface="Calibri"/>
              </a:rPr>
              <a:t>Audit-ready by default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827"/>
                </a:solidFill>
                <a:latin typeface="Calibri"/>
              </a:rPr>
              <a:t>Branded report mapped article-by-article to EU AI Act 9/10/13/14/72 + Annex III. The document buyers and auditors accept.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74736" y="2011680"/>
            <a:ext cx="3520440" cy="3291840"/>
          </a:xfrm>
          <a:prstGeom prst="rect">
            <a:avLst/>
          </a:prstGeom>
          <a:solidFill>
            <a:srgbClr val="EDE9FE"/>
          </a:solidFill>
          <a:ln w="12700">
            <a:solidFill>
              <a:srgbClr val="7C6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7C6EFF"/>
                </a:solidFill>
                <a:latin typeface="Calibri"/>
              </a:rPr>
              <a:t>Privacy by architecture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11827"/>
                </a:solidFill>
                <a:latin typeface="Calibri"/>
              </a:rPr>
              <a:t>Only SHA-256 hashes + embedding vectors leave the customer. We reduce their data-protection surface.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827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46304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Calibri"/>
              </a:rPr>
              <a:t>One line. Zero added latency. Three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731520" cy="731520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057400"/>
            <a:ext cx="96926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11827"/>
                </a:solidFill>
                <a:latin typeface="Calibri"/>
              </a:rPr>
              <a:t>Add one line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client = wrap(OpenAI(...), verispect_key="vs_live_...")  — or swap the base_url.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29000"/>
            <a:ext cx="731520" cy="731520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383280"/>
            <a:ext cx="96926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11827"/>
                </a:solidFill>
                <a:latin typeface="Calibri"/>
              </a:rPr>
              <a:t>We probe &amp; score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On a sample of live traffic, Verispect fires bias/consistency probes and scores drift vs your baseline — deterministically, no LLM in the loop.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754880"/>
            <a:ext cx="731520" cy="731520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709160"/>
            <a:ext cx="96926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11827"/>
                </a:solidFill>
                <a:latin typeface="Calibri"/>
              </a:rPr>
              <a:t>You get the report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Calibri"/>
              </a:rPr>
              <a:t>A continuously-updated, audit-ready PDF mapped to the EU AI Act. Send it to your buyer or auditor.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827"/>
                </a:solidFill>
                <a:latin typeface="Calibri"/>
              </a:rPr>
              <a:t>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46304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Calibri"/>
              </a:rPr>
              <a:t>Regulation turns a nice-to-have into a deadline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EU AI Act high-risk (Annex III) obligations operative 2 Aug 2026 — employment/recruitment AI is explicitly high-risk.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Digital Omnibus may move standalone Annex III to 2 Dec 2027 (not yet law) — the obligation still arrives.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Continuous post-market monitoring (Art. 72), logging (Art. 13), bias governance (Art. 10) become mandatory.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Enterprise procurement already asks AI-governance questions today — demand precedes the law.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Parallel pull from Singapore (IMDA AI Verify) and UAE governance frameworks.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827"/>
                </a:solidFill>
                <a:latin typeface="Calibri"/>
              </a:rPr>
              <a:t>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46304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Calibri"/>
              </a:rPr>
              <a:t>Positioned on the fastest-growing demand vector: compliance-driven assurance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2606040" cy="2194560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7C6EFF"/>
                </a:solidFill>
                <a:latin typeface="Calibri"/>
              </a:rPr>
              <a:t>$2–3.2B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11827"/>
                </a:solidFill>
                <a:latin typeface="Calibri"/>
              </a:rPr>
              <a:t>LLM observability market,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2194560"/>
            <a:ext cx="2606040" cy="2194560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7C6EFF"/>
                </a:solidFill>
                <a:latin typeface="Calibri"/>
              </a:rPr>
              <a:t>25–36%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11827"/>
                </a:solidFill>
                <a:latin typeface="Calibri"/>
              </a:rPr>
              <a:t>CAGR toward $9–24B by 2030–34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2194560"/>
            <a:ext cx="2606040" cy="2194560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7C6EFF"/>
                </a:solidFill>
                <a:latin typeface="Calibri"/>
              </a:rPr>
              <a:t>~$2.7B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11827"/>
                </a:solidFill>
                <a:latin typeface="Calibri"/>
              </a:rPr>
              <a:t>Compliance-assurance TAM (2030, est.)</a:t>
            </a:r>
          </a:p>
        </p:txBody>
      </p:sp>
      <p:sp>
        <p:nvSpPr>
          <p:cNvPr id="9" name="Rectangle 8"/>
          <p:cNvSpPr/>
          <p:nvPr/>
        </p:nvSpPr>
        <p:spPr>
          <a:xfrm>
            <a:off x="9098280" y="2194560"/>
            <a:ext cx="2606040" cy="2194560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7C6EFF"/>
                </a:solidFill>
                <a:latin typeface="Calibri"/>
              </a:rPr>
              <a:t>~€1M ARR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11827"/>
                </a:solidFill>
                <a:latin typeface="Calibri"/>
              </a:rPr>
              <a:t>3-yr SOM from ~150 right accounts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6B7280"/>
                </a:solidFill>
                <a:latin typeface="Calibri"/>
              </a:rPr>
              <a:t>Analysts cite regulatory scrutiny (EU AI Act, NIST AI RMF) as the #1 growth driver — exactly our slice.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827"/>
                </a:solidFill>
                <a:latin typeface="Calibri"/>
              </a:rPr>
              <a:t>Competitive landscape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46304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Calibri"/>
              </a:rPr>
              <a:t>Observability watches. Assurance verifies.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Logs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Active probing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Bias probes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AI Act report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 data access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Helicone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LangSmith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Braintrust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1182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Verispect</a:t>
                      </a:r>
                    </a:p>
                  </a:txBody>
                  <a:tcPr>
                    <a:solidFill>
                      <a:srgbClr val="7C6E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7C6E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7C6E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✓ (8)</a:t>
                      </a:r>
                    </a:p>
                  </a:txBody>
                  <a:tcPr>
                    <a:solidFill>
                      <a:srgbClr val="7C6E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7C6E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7C6E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827"/>
                </a:solidFill>
                <a:latin typeface="Calibri"/>
              </a:rPr>
              <a:t>Why we win — and keep winning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46304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Probe library as IP — calibrated, regulation-mapped probes across 8 protected characteristics. A weekend to copy the proxy; a year to copy the library.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Compliance output as lock-in — the audit history accumulates inside Verispect. Switching means losing evidence right before an audit.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Privacy architecture as trust wedge — "we literally can't see your data" closes security review faster than any competitor.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Regulatory tailwind — the buying trigger is a legal deadline, not a preference.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827"/>
                </a:solidFill>
                <a:latin typeface="Calibri"/>
              </a:rPr>
              <a:t>Product — already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46304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Calibri"/>
              </a:rPr>
              <a:t>Working full stack, not a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111827"/>
                </a:solidFill>
                <a:latin typeface="Calibri"/>
              </a:rPr>
              <a:t>•  One-line SDK + middleware proxy · zero added latency (async background work).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11827"/>
                </a:solidFill>
                <a:latin typeface="Calibri"/>
              </a:rPr>
              <a:t>•  Privacy-preserving ingest — hashes + embeddings only; golden probes stored on the customer's machine.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11827"/>
                </a:solidFill>
                <a:latin typeface="Calibri"/>
              </a:rPr>
              <a:t>•  20-probe regulatory library + golden-probe replay of real traffic.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11827"/>
                </a:solidFill>
                <a:latin typeface="Calibri"/>
              </a:rPr>
              <a:t>•  Deterministic drift scoring (all-MiniLM-L6-v2 cosine similarity).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11827"/>
                </a:solidFill>
                <a:latin typeface="Calibri"/>
              </a:rPr>
              <a:t>•  Branded EU AI Act compliance PDF — article-by-article mapping, drift log, remediation.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11827"/>
                </a:solidFill>
                <a:latin typeface="Calibri"/>
              </a:rPr>
              <a:t>•  React dashboard, JWT auth, API-key management, multi-tenant.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827"/>
                </a:solidFill>
                <a:latin typeface="Calibri"/>
              </a:rPr>
              <a:t>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46304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Calibri"/>
              </a:rPr>
              <a:t>Free wedge → Pro self-serve → Enterprise. ~88–90% gross margin.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2606040" cy="2743200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7C6EFF"/>
                </a:solidFill>
                <a:latin typeface="Calibri"/>
              </a:rPr>
              <a:t>Free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111827"/>
                </a:solidFill>
                <a:latin typeface="Calibri"/>
              </a:rPr>
              <a:t>€0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11827"/>
                </a:solidFill>
                <a:latin typeface="Calibri"/>
              </a:rPr>
              <a:t>10k calls, 1 report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2194560"/>
            <a:ext cx="2606040" cy="2743200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Pro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€99/mo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250k calls, all probes, alerts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59" y="2194560"/>
            <a:ext cx="2606040" cy="2743200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7C6EFF"/>
                </a:solidFill>
                <a:latin typeface="Calibri"/>
              </a:rPr>
              <a:t>Business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111827"/>
                </a:solidFill>
                <a:latin typeface="Calibri"/>
              </a:rPr>
              <a:t>€399/mo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11827"/>
                </a:solidFill>
                <a:latin typeface="Calibri"/>
              </a:rPr>
              <a:t>2M calls, 10 models, unlimited reports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098280" y="2194560"/>
            <a:ext cx="2606040" cy="2743200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7C6EFF"/>
                </a:solidFill>
                <a:latin typeface="Calibri"/>
              </a:rPr>
              <a:t>Enterprise</a:t>
            </a:r>
          </a:p>
          <a:p>
            <a:pPr algn="ctr">
              <a:spcAft>
                <a:spcPts val="800"/>
              </a:spcAft>
            </a:pPr>
            <a:r>
              <a:rPr sz="1800" b="1" i="0">
                <a:solidFill>
                  <a:srgbClr val="111827"/>
                </a:solidFill>
                <a:latin typeface="Calibri"/>
              </a:rPr>
              <a:t>€2–10k/mo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111827"/>
                </a:solidFill>
                <a:latin typeface="Calibri"/>
              </a:rPr>
              <a:t>white-label, custom probes, SLA, audit support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827"/>
                </a:solidFill>
                <a:latin typeface="Calibri"/>
              </a:rPr>
              <a:t>Go-to-market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46304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Calibri"/>
              </a:rPr>
              <a:t>Founder-led, compliance-triggered, product-led-assisted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111827"/>
                </a:solidFill>
                <a:latin typeface="Calibri"/>
              </a:rPr>
              <a:t>•  Outbound to a tight ICP: AI-native startups in EU/SG/UAE using LLMs in high-risk decisions (start with HR-tech — probe library already fits).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111827"/>
                </a:solidFill>
                <a:latin typeface="Calibri"/>
              </a:rPr>
              <a:t>•  Free "drift/bias snapshot" lead magnet — one line, 5 min, returns a real report. Qualifies + delivers value.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111827"/>
                </a:solidFill>
                <a:latin typeface="Calibri"/>
              </a:rPr>
              <a:t>•  Compliance-led content + SEO — own "EU AI Act monitoring" and "LLM bias detection."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111827"/>
                </a:solidFill>
                <a:latin typeface="Calibri"/>
              </a:rPr>
              <a:t>•  Land via free snapshot → expand Pro → graduate best logos to Enterprise (driven by their own audits/buyers).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111827"/>
                </a:solidFill>
                <a:latin typeface="Calibri"/>
              </a:rPr>
              <a:t>•  Channel: RAI consultancies, boutique law firms, GRC platforms as referral partners.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827"/>
                </a:solidFill>
                <a:latin typeface="Calibri"/>
              </a:rPr>
              <a:t>Plan — first 12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46304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Mo 0–3: ship multi-model + alerts + self-serve billing; 5 design partners; public launch.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Mo 3–6: 15 paying Pro; first 1–2 Enterprise pilots; €3–5k MRR.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Mo 6–12: 40+ Pro, 3–5 Enterprise; €15–25k MRR; SOC 2 Type I in progress; first hire.</a:t>
            </a:r>
          </a:p>
          <a:p>
            <a:pPr>
              <a:spcAft>
                <a:spcPts val="1600"/>
              </a:spcAft>
            </a:pPr>
            <a:r>
              <a:rPr sz="1800">
                <a:solidFill>
                  <a:srgbClr val="111827"/>
                </a:solidFill>
                <a:latin typeface="Calibri"/>
              </a:rPr>
              <a:t>•  North-star metric: audit-ready reports generated per month.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11827"/>
                </a:solidFill>
                <a:latin typeface="Calibri"/>
              </a:rPr>
              <a:t>Founder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463040" cy="73152"/>
          </a:xfrm>
          <a:prstGeom prst="rect">
            <a:avLst/>
          </a:prstGeom>
          <a:solidFill>
            <a:srgbClr val="7C6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111827"/>
                </a:solidFill>
                <a:latin typeface="Calibri"/>
              </a:rPr>
              <a:t>Ajay — Founder &amp; Engineer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BSCS, FAST NUCES Karachi. Built the entire stack solo: FastAPI proxy, privacy-preserving SDK, embedding drift engine, compliance PDF generator, React dashboard, auth.</a:t>
            </a:r>
          </a:p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7C6EFF"/>
                </a:solidFill>
                <a:latin typeface="Calibri"/>
              </a:rPr>
              <a:t>Found measurable hiring bias in a mainstream model in an afternoon — and decided someone should be watching continuously.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Your AI model changed.</a:t>
            </a:r>
          </a:p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7C6EFF"/>
                </a:solidFill>
                <a:latin typeface="Calibri"/>
              </a:rPr>
              <a:t>We're the only ones who noticed.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8C3F0"/>
                </a:solidFill>
                <a:latin typeface="Calibri"/>
              </a:rPr>
              <a:t>Run a free snapshot — see your model's drift in 5 minutes.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B7280"/>
                </a:solidFill>
                <a:latin typeface="Calibri"/>
              </a:rPr>
              <a:t>verispectai.com   ·   hello@verispectai.com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